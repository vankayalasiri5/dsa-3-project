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Delivery Route Optimizer Using Dijkstra’s Algorithm and Priority Queue</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Bathula Neha (2520090013)</a:t>
            </a:r>
          </a:p>
          <a:p>
            <a:r>
              <a:rPr lang="en-US" dirty="0">
                <a:solidFill>
                  <a:srgbClr val="0070C0"/>
                </a:solidFill>
              </a:rPr>
              <a:t>Siri Chandana (2520090198)</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Mrs. Ch. Anitha</a:t>
            </a: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Asst. Professor, CS&amp;IT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20" name="Body20"/>
          <p:cNvSpPr txBox="1"/>
          <p:nvPr/>
        </p:nvSpPr>
        <p:spPr>
          <a:xfrm>
            <a:off x="850000" y="2550000"/>
            <a:ext cx="10490000" cy="4000000"/>
          </a:xfrm>
          <a:prstGeom prst="rect">
            <a:avLst/>
          </a:prstGeom>
          <a:noFill/>
        </p:spPr>
        <p:txBody>
          <a:bodyPr wrap="square" anchor="ctr">
            <a:normAutofit/>
          </a:bodyPr>
          <a:lstStyle/>
          <a:p>
            <a:pPr marL="0" indent="0">
              <a:buNone/>
            </a:pPr>
            <a:r>
              <a:rPr lang="en-US" sz="2000" dirty="0"/>
              <a:t>The Delivery Route Optimizer is a project designed to find the shortest and fastest route between a delivery location and multiple destinations, similar to real-world applications like Google Maps, Swiggy, Zomato, and Blinkit. The system models the road network as a graph, where intersections are represented as nodes and roads as weighted edges based on distance or travel time. Using Dijkstra's Shortest Path Algorithm implemented with a Priority Queue (Min Heap), the project efficiently computes the optimal delivery route while minimizing travel time and fuel consumption. Core data structures such as Adjacency Lists, Arrays, and Hash Maps support efficient storage of location and route information, while the Greedy approach ensures optimal path selection at every step. Key features include adding locations and roads, calculating the shortest route, displaying the total distance, and visualizing the optimized delivery path.</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20" name="Body20"/>
          <p:cNvSpPr txBox="1"/>
          <p:nvPr/>
        </p:nvSpPr>
        <p:spPr>
          <a:xfrm>
            <a:off x="850000" y="2550000"/>
            <a:ext cx="10490000" cy="4000000"/>
          </a:xfrm>
          <a:prstGeom prst="rect">
            <a:avLst/>
          </a:prstGeom>
          <a:noFill/>
        </p:spPr>
        <p:txBody>
          <a:bodyPr wrap="square" anchor="t">
            <a:normAutofit/>
          </a:bodyPr>
          <a:lstStyle/>
          <a:p>
            <a:pPr marL="285750" indent="-285750">
              <a:buFont typeface="Arial"/>
              <a:buChar char="•"/>
            </a:pPr>
            <a:r>
              <a:rPr lang="en-US" sz="2000" dirty="0"/>
              <a:t>Efficient delivery route planning is critical for e-commerce and food/grocery delivery platforms such as Swiggy, Zomato, and Blinkit, and for navigation apps like Google Maps.</a:t>
            </a:r>
          </a:p>
          <a:p>
            <a:pPr marL="285750" indent="-285750">
              <a:buFont typeface="Arial"/>
              <a:buChar char="•"/>
            </a:pPr>
            <a:r>
              <a:rPr lang="en-US" sz="2000" dirty="0"/>
              <a:t>Manually chosen or naive routes often lead to longer travel time, higher fuel consumption, and delayed deliveries.</a:t>
            </a:r>
          </a:p>
          <a:p>
            <a:pPr marL="285750" indent="-285750">
              <a:buFont typeface="Arial"/>
              <a:buChar char="•"/>
            </a:pPr>
            <a:r>
              <a:rPr lang="en-US" sz="2000" dirty="0"/>
              <a:t>This project models the road network as a weighted graph: intersections are nodes, and roads are edges weighted by distance or travel time.</a:t>
            </a:r>
          </a:p>
          <a:p>
            <a:pPr marL="285750" indent="-285750">
              <a:buFont typeface="Arial"/>
              <a:buChar char="•"/>
            </a:pPr>
            <a:r>
              <a:rPr lang="en-US" sz="2000" dirty="0"/>
              <a:t>Dijkstra's Shortest Path Algorithm, implemented with a Priority Queue (Min-Heap), is used to compute the optimal route from a delivery hub to multiple destinations.</a:t>
            </a:r>
          </a:p>
          <a:p>
            <a:pPr marL="285750" indent="-285750">
              <a:buFont typeface="Arial"/>
              <a:buChar char="•"/>
            </a:pPr>
            <a:r>
              <a:rPr lang="en-US" sz="2000" dirty="0"/>
              <a:t>The goal is to build a scalable system that minimizes travel time and fuel consumption while giving a clear, visual picture of the optimized delivery path.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20" name="Body20"/>
          <p:cNvSpPr txBox="1"/>
          <p:nvPr/>
        </p:nvSpPr>
        <p:spPr>
          <a:xfrm>
            <a:off x="850000" y="2550000"/>
            <a:ext cx="10490000" cy="4000000"/>
          </a:xfrm>
          <a:prstGeom prst="rect">
            <a:avLst/>
          </a:prstGeom>
          <a:noFill/>
        </p:spPr>
        <p:txBody>
          <a:bodyPr wrap="square" anchor="t">
            <a:normAutofit/>
          </a:bodyPr>
          <a:lstStyle/>
          <a:p>
            <a:pPr marL="285750" indent="-285750">
              <a:buFont typeface="Arial"/>
              <a:buChar char="•"/>
            </a:pPr>
            <a:r>
              <a:rPr lang="en-US" sz="2000" dirty="0"/>
              <a:t>Dijkstra (1959) proposed the Shortest Path Algorithm, which remains the foundation of most modern route-finding systems.</a:t>
            </a:r>
          </a:p>
          <a:p>
            <a:pPr marL="285750" indent="-285750">
              <a:buFont typeface="Arial"/>
              <a:buChar char="•"/>
            </a:pPr>
            <a:r>
              <a:rPr lang="en-US" sz="2000" dirty="0"/>
              <a:t>Google Maps and similar navigation systems use graph-based shortest-path techniques, often enhanced with real-time traffic data.</a:t>
            </a:r>
          </a:p>
          <a:p>
            <a:pPr marL="285750" indent="-285750">
              <a:buFont typeface="Arial"/>
              <a:buChar char="•"/>
            </a:pPr>
            <a:r>
              <a:rPr lang="en-US" sz="2000" dirty="0"/>
              <a:t>Food and grocery delivery platforms (Swiggy, Zomato, Blinkit) apply route optimization algorithms to reduce delivery time and operational cost.</a:t>
            </a:r>
          </a:p>
          <a:p>
            <a:pPr marL="285750" indent="-285750">
              <a:buFont typeface="Arial"/>
              <a:buChar char="•"/>
            </a:pPr>
            <a:r>
              <a:rPr lang="en-US" sz="2000" dirty="0"/>
              <a:t>Implementing Dijkstra's Algorithm with a Priority Queue (Min-Heap) improves time complexity from O(V^2) to O((V+E) log V), making it practical for large road networks.</a:t>
            </a:r>
          </a:p>
          <a:p>
            <a:pPr marL="285750" indent="-285750">
              <a:buFont typeface="Arial"/>
              <a:buChar char="•"/>
            </a:pPr>
            <a:r>
              <a:rPr lang="en-US" sz="2000" dirty="0"/>
              <a:t>Related algorithms such as A* Search and Bellman-Ford offer alternative trade-offs in speed, memory usage, and support for negative edge weights.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20" name="Body20"/>
          <p:cNvSpPr txBox="1"/>
          <p:nvPr/>
        </p:nvSpPr>
        <p:spPr>
          <a:xfrm>
            <a:off x="850000" y="2550000"/>
            <a:ext cx="10490000" cy="4000000"/>
          </a:xfrm>
          <a:prstGeom prst="rect">
            <a:avLst/>
          </a:prstGeom>
          <a:noFill/>
        </p:spPr>
        <p:txBody>
          <a:bodyPr wrap="square" anchor="t">
            <a:normAutofit/>
          </a:bodyPr>
          <a:lstStyle/>
          <a:p>
            <a:pPr marL="0" indent="0">
              <a:buNone/>
            </a:pPr>
            <a:r>
              <a:rPr lang="en-US" sz="2000" b="1" dirty="0">
                <a:solidFill>
                  <a:srgbClr val="C00000"/>
                </a:solidFill>
              </a:rPr>
              <a:t>Problem Statement</a:t>
            </a:r>
          </a:p>
          <a:p>
            <a:pPr marL="0" indent="0">
              <a:buNone/>
            </a:pPr>
            <a:r>
              <a:rPr lang="en-US" sz="1900" dirty="0"/>
              <a:t>Given a delivery hub and multiple destination points, manually chosen or simplistic routing fails to consistently identify the shortest and fastest path considering real road distances and travel times, resulting in inefficient deliveries, wasted fuel, and delays.</a:t>
            </a:r>
          </a:p>
          <a:p>
            <a:pPr marL="0" indent="0">
              <a:buNone/>
            </a:pPr>
            <a:r>
              <a:rPr lang="en-US" sz="800" dirty="0"/>
              <a:t> </a:t>
            </a:r>
          </a:p>
          <a:p>
            <a:pPr marL="0" indent="0">
              <a:buNone/>
            </a:pPr>
            <a:r>
              <a:rPr lang="en-US" sz="2000" b="1" dirty="0">
                <a:solidFill>
                  <a:srgbClr val="C00000"/>
                </a:solidFill>
              </a:rPr>
              <a:t>Objectives</a:t>
            </a:r>
          </a:p>
          <a:p>
            <a:pPr marL="285750" indent="-285750">
              <a:buFont typeface="Arial"/>
              <a:buChar char="•"/>
            </a:pPr>
            <a:r>
              <a:rPr lang="en-US" sz="1900" dirty="0"/>
              <a:t>Model the road network as a weighted graph using Adjacency Lists.</a:t>
            </a:r>
          </a:p>
          <a:p>
            <a:pPr marL="285750" indent="-285750">
              <a:buFont typeface="Arial"/>
              <a:buChar char="•"/>
            </a:pPr>
            <a:r>
              <a:rPr lang="en-US" sz="1900" dirty="0"/>
              <a:t>Implement Dijkstra's Algorithm with a Priority Queue (Min-Heap) for efficient shortest-path computation.</a:t>
            </a:r>
          </a:p>
          <a:p>
            <a:pPr marL="285750" indent="-285750">
              <a:buFont typeface="Arial"/>
              <a:buChar char="•"/>
            </a:pPr>
            <a:r>
              <a:rPr lang="en-US" sz="1900" dirty="0"/>
              <a:t>Support dynamic addition of delivery locations and roads.</a:t>
            </a:r>
          </a:p>
          <a:p>
            <a:pPr marL="285750" indent="-285750">
              <a:buFont typeface="Arial"/>
              <a:buChar char="•"/>
            </a:pPr>
            <a:r>
              <a:rPr lang="en-US" sz="1900" dirty="0"/>
              <a:t>Calculate and display the total distance/time of the optimized route.</a:t>
            </a:r>
          </a:p>
          <a:p>
            <a:pPr marL="285750" indent="-285750">
              <a:buFont typeface="Arial"/>
              <a:buChar char="•"/>
            </a:pPr>
            <a:r>
              <a:rPr lang="en-US" sz="1900" dirty="0"/>
              <a:t>Visualize the computed delivery path for better interpretability.</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0" name="FlowBox10"/>
          <p:cNvSpPr/>
          <p:nvPr/>
        </p:nvSpPr>
        <p:spPr>
          <a:xfrm>
            <a:off x="700000" y="145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Start</a:t>
            </a:r>
          </a:p>
        </p:txBody>
      </p:sp>
      <p:sp>
        <p:nvSpPr>
          <p:cNvPr id="11" name="FlowBox11"/>
          <p:cNvSpPr/>
          <p:nvPr/>
        </p:nvSpPr>
        <p:spPr>
          <a:xfrm>
            <a:off x="3400000" y="145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Input Locations &amp; Roads</a:t>
            </a:r>
          </a:p>
        </p:txBody>
      </p:sp>
      <p:sp>
        <p:nvSpPr>
          <p:cNvPr id="12" name="FlowBox12"/>
          <p:cNvSpPr/>
          <p:nvPr/>
        </p:nvSpPr>
        <p:spPr>
          <a:xfrm>
            <a:off x="6100000" y="145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Build Graph (Adjacency List)</a:t>
            </a:r>
          </a:p>
        </p:txBody>
      </p:sp>
      <p:sp>
        <p:nvSpPr>
          <p:cNvPr id="13" name="FlowBox13"/>
          <p:cNvSpPr/>
          <p:nvPr/>
        </p:nvSpPr>
        <p:spPr>
          <a:xfrm>
            <a:off x="8800000" y="145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Select Source Node</a:t>
            </a:r>
          </a:p>
        </p:txBody>
      </p:sp>
      <p:sp>
        <p:nvSpPr>
          <p:cNvPr id="14" name="FlowBox14"/>
          <p:cNvSpPr/>
          <p:nvPr/>
        </p:nvSpPr>
        <p:spPr>
          <a:xfrm>
            <a:off x="700000" y="420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End</a:t>
            </a:r>
          </a:p>
        </p:txBody>
      </p:sp>
      <p:sp>
        <p:nvSpPr>
          <p:cNvPr id="15" name="FlowBox15"/>
          <p:cNvSpPr/>
          <p:nvPr/>
        </p:nvSpPr>
        <p:spPr>
          <a:xfrm>
            <a:off x="3400000" y="420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Display Route &amp; Total Distance</a:t>
            </a:r>
          </a:p>
        </p:txBody>
      </p:sp>
      <p:sp>
        <p:nvSpPr>
          <p:cNvPr id="16" name="FlowBox16"/>
          <p:cNvSpPr/>
          <p:nvPr/>
        </p:nvSpPr>
        <p:spPr>
          <a:xfrm>
            <a:off x="6100000" y="420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Compute Shortest Path</a:t>
            </a:r>
          </a:p>
        </p:txBody>
      </p:sp>
      <p:sp>
        <p:nvSpPr>
          <p:cNvPr id="17" name="FlowBox17"/>
          <p:cNvSpPr/>
          <p:nvPr/>
        </p:nvSpPr>
        <p:spPr>
          <a:xfrm>
            <a:off x="8800000" y="4200000"/>
            <a:ext cx="2400000" cy="800000"/>
          </a:xfrm>
          <a:prstGeom prst="roundRect">
            <a:avLst/>
          </a:prstGeom>
          <a:solidFill>
            <a:srgbClr val="FBEAEA"/>
          </a:solidFill>
          <a:ln w="19050">
            <a:solidFill>
              <a:srgbClr val="C00000"/>
            </a:solidFill>
          </a:ln>
        </p:spPr>
        <p:txBody>
          <a:bodyPr wrap="square" anchor="ctr" lIns="45720" rIns="45720">
            <a:normAutofit/>
          </a:bodyPr>
          <a:lstStyle/>
          <a:p>
            <a:pPr algn="ctr"/>
            <a:r>
              <a:rPr lang="en-US" sz="1400" b="1" dirty="0">
                <a:solidFill>
                  <a:srgbClr val="C00000"/>
                </a:solidFill>
              </a:rPr>
              <a:t>Run Dijkstra's Algorithm (Priority Queue)</a:t>
            </a:r>
          </a:p>
        </p:txBody>
      </p:sp>
      <p:cxnSp>
        <p:nvCxnSpPr>
          <p:cNvPr id="18" name="Connector18"/>
          <p:cNvCxnSpPr/>
          <p:nvPr/>
        </p:nvCxnSpPr>
        <p:spPr>
          <a:xfrm>
            <a:off x="3100000" y="1850000"/>
            <a:ext cx="300000" cy="0"/>
          </a:xfrm>
          <a:prstGeom prst="straightConnector1">
            <a:avLst/>
          </a:prstGeom>
          <a:ln w="28575">
            <a:solidFill>
              <a:srgbClr val="C00000"/>
            </a:solidFill>
            <a:tailEnd type="triangle" w="med" len="med"/>
          </a:ln>
        </p:spPr>
      </p:cxnSp>
      <p:cxnSp>
        <p:nvCxnSpPr>
          <p:cNvPr id="19" name="Connector19"/>
          <p:cNvCxnSpPr/>
          <p:nvPr/>
        </p:nvCxnSpPr>
        <p:spPr>
          <a:xfrm>
            <a:off x="5800000" y="1850000"/>
            <a:ext cx="300000" cy="0"/>
          </a:xfrm>
          <a:prstGeom prst="straightConnector1">
            <a:avLst/>
          </a:prstGeom>
          <a:ln w="28575">
            <a:solidFill>
              <a:srgbClr val="C00000"/>
            </a:solidFill>
            <a:tailEnd type="triangle" w="med" len="med"/>
          </a:ln>
        </p:spPr>
      </p:cxnSp>
      <p:cxnSp>
        <p:nvCxnSpPr>
          <p:cNvPr id="20" name="Connector20"/>
          <p:cNvCxnSpPr/>
          <p:nvPr/>
        </p:nvCxnSpPr>
        <p:spPr>
          <a:xfrm>
            <a:off x="8500000" y="1850000"/>
            <a:ext cx="300000" cy="0"/>
          </a:xfrm>
          <a:prstGeom prst="straightConnector1">
            <a:avLst/>
          </a:prstGeom>
          <a:ln w="28575">
            <a:solidFill>
              <a:srgbClr val="C00000"/>
            </a:solidFill>
            <a:tailEnd type="triangle" w="med" len="med"/>
          </a:ln>
        </p:spPr>
      </p:cxnSp>
      <p:cxnSp>
        <p:nvCxnSpPr>
          <p:cNvPr id="21" name="Connector21"/>
          <p:cNvCxnSpPr/>
          <p:nvPr/>
        </p:nvCxnSpPr>
        <p:spPr>
          <a:xfrm>
            <a:off x="10000000" y="2250000"/>
            <a:ext cx="0" cy="1950000"/>
          </a:xfrm>
          <a:prstGeom prst="straightConnector1">
            <a:avLst/>
          </a:prstGeom>
          <a:ln w="28575">
            <a:solidFill>
              <a:srgbClr val="C00000"/>
            </a:solidFill>
            <a:tailEnd type="triangle" w="med" len="med"/>
          </a:ln>
        </p:spPr>
      </p:cxnSp>
      <p:cxnSp>
        <p:nvCxnSpPr>
          <p:cNvPr id="22" name="Connector22"/>
          <p:cNvCxnSpPr/>
          <p:nvPr/>
        </p:nvCxnSpPr>
        <p:spPr>
          <a:xfrm flipH="1">
            <a:off x="8500000" y="4600000"/>
            <a:ext cx="300000" cy="0"/>
          </a:xfrm>
          <a:prstGeom prst="straightConnector1">
            <a:avLst/>
          </a:prstGeom>
          <a:ln w="28575">
            <a:solidFill>
              <a:srgbClr val="C00000"/>
            </a:solidFill>
            <a:tailEnd type="triangle" w="med" len="med"/>
          </a:ln>
        </p:spPr>
      </p:cxnSp>
      <p:cxnSp>
        <p:nvCxnSpPr>
          <p:cNvPr id="23" name="Connector23"/>
          <p:cNvCxnSpPr/>
          <p:nvPr/>
        </p:nvCxnSpPr>
        <p:spPr>
          <a:xfrm flipH="1">
            <a:off x="5800000" y="4600000"/>
            <a:ext cx="300000" cy="0"/>
          </a:xfrm>
          <a:prstGeom prst="straightConnector1">
            <a:avLst/>
          </a:prstGeom>
          <a:ln w="28575">
            <a:solidFill>
              <a:srgbClr val="C00000"/>
            </a:solidFill>
            <a:tailEnd type="triangle" w="med" len="med"/>
          </a:ln>
        </p:spPr>
      </p:cxnSp>
      <p:cxnSp>
        <p:nvCxnSpPr>
          <p:cNvPr id="24" name="Connector24"/>
          <p:cNvCxnSpPr/>
          <p:nvPr/>
        </p:nvCxnSpPr>
        <p:spPr>
          <a:xfrm flipH="1">
            <a:off x="3100000" y="4600000"/>
            <a:ext cx="300000" cy="0"/>
          </a:xfrm>
          <a:prstGeom prst="straightConnector1">
            <a:avLst/>
          </a:prstGeom>
          <a:ln w="28575">
            <a:solidFill>
              <a:srgbClr val="C00000"/>
            </a:solidFill>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20" name="Body20"/>
          <p:cNvSpPr txBox="1"/>
          <p:nvPr/>
        </p:nvSpPr>
        <p:spPr>
          <a:xfrm>
            <a:off x="850000" y="2550000"/>
            <a:ext cx="10490000" cy="4000000"/>
          </a:xfrm>
          <a:prstGeom prst="rect">
            <a:avLst/>
          </a:prstGeom>
          <a:noFill/>
        </p:spPr>
        <p:txBody>
          <a:bodyPr wrap="square" anchor="t">
            <a:normAutofit/>
          </a:bodyPr>
          <a:lstStyle/>
          <a:p>
            <a:pPr marL="285750" indent="-285750">
              <a:buFont typeface="Arial"/>
              <a:buChar char="•"/>
            </a:pPr>
            <a:r>
              <a:rPr lang="en-US" sz="2000" dirty="0"/>
              <a:t>The system successfully computes the shortest path between a source delivery hub and any selected destination using Dijkstra's Algorithm.</a:t>
            </a:r>
          </a:p>
          <a:p>
            <a:pPr marL="285750" indent="-285750">
              <a:buFont typeface="Arial"/>
              <a:buChar char="•"/>
            </a:pPr>
            <a:r>
              <a:rPr lang="en-US" sz="2000" dirty="0"/>
              <a:t>Priority Queue (Min-Heap) implementation reduces computation time compared to a naive linear-search approach, especially as the number of locations grows.</a:t>
            </a:r>
          </a:p>
          <a:p>
            <a:pPr marL="285750" indent="-285750">
              <a:buFont typeface="Arial"/>
              <a:buChar char="•"/>
            </a:pPr>
            <a:r>
              <a:rPr lang="en-US" sz="2000" dirty="0"/>
              <a:t>The total distance and estimated travel time for the optimized route are displayed to the user.</a:t>
            </a:r>
          </a:p>
          <a:p>
            <a:pPr marL="285750" indent="-285750">
              <a:buFont typeface="Arial"/>
              <a:buChar char="•"/>
            </a:pPr>
            <a:r>
              <a:rPr lang="en-US" sz="2000" dirty="0"/>
              <a:t>The optimized delivery path is visualized on the modeled road network, making the shortest route easy to interpret.</a:t>
            </a:r>
          </a:p>
          <a:p>
            <a:pPr marL="285750" indent="-285750">
              <a:buFont typeface="Arial"/>
              <a:buChar char="•"/>
            </a:pPr>
            <a:r>
              <a:rPr lang="en-US" sz="2000" dirty="0"/>
              <a:t>The system supports multiple test cases with varying numbers of locations and roads, consistently returning the optimal route.</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20" name="Body20"/>
          <p:cNvSpPr txBox="1"/>
          <p:nvPr/>
        </p:nvSpPr>
        <p:spPr>
          <a:xfrm>
            <a:off x="850000" y="2550000"/>
            <a:ext cx="10490000" cy="4000000"/>
          </a:xfrm>
          <a:prstGeom prst="rect">
            <a:avLst/>
          </a:prstGeom>
          <a:noFill/>
        </p:spPr>
        <p:txBody>
          <a:bodyPr wrap="square" anchor="t">
            <a:normAutofit/>
          </a:bodyPr>
          <a:lstStyle/>
          <a:p>
            <a:pPr marL="0" indent="0">
              <a:buNone/>
            </a:pPr>
            <a:r>
              <a:rPr lang="en-US" sz="2000" b="1" dirty="0">
                <a:solidFill>
                  <a:srgbClr val="C00000"/>
                </a:solidFill>
              </a:rPr>
              <a:t>Hardware Requirements</a:t>
            </a:r>
          </a:p>
          <a:p>
            <a:pPr marL="285750" indent="-285750">
              <a:buFont typeface="Arial"/>
              <a:buChar char="•"/>
            </a:pPr>
            <a:r>
              <a:rPr lang="en-US" sz="1900" dirty="0"/>
              <a:t>Processor: Intel i3 (or equivalent) and above</a:t>
            </a:r>
          </a:p>
          <a:p>
            <a:pPr marL="285750" indent="-285750">
              <a:buFont typeface="Arial"/>
              <a:buChar char="•"/>
            </a:pPr>
            <a:r>
              <a:rPr lang="en-US" sz="1900" dirty="0"/>
              <a:t>RAM: 4 GB minimum (8 GB recommended)</a:t>
            </a:r>
          </a:p>
          <a:p>
            <a:pPr marL="285750" indent="-285750">
              <a:buFont typeface="Arial"/>
              <a:buChar char="•"/>
            </a:pPr>
            <a:r>
              <a:rPr lang="en-US" sz="1900" dirty="0"/>
              <a:t>Storage: 500 MB free disk space</a:t>
            </a:r>
          </a:p>
          <a:p>
            <a:pPr marL="285750" indent="-285750">
              <a:buFont typeface="Arial"/>
              <a:buChar char="•"/>
            </a:pPr>
            <a:r>
              <a:rPr lang="en-US" sz="1900" dirty="0"/>
              <a:t>Standard input/output devices (keyboard, mouse, monitor)</a:t>
            </a:r>
          </a:p>
          <a:p>
            <a:pPr marL="0" indent="0">
              <a:buNone/>
            </a:pPr>
            <a:r>
              <a:rPr lang="en-US" sz="700" dirty="0"/>
              <a:t> </a:t>
            </a:r>
          </a:p>
          <a:p>
            <a:pPr marL="0" indent="0">
              <a:buNone/>
            </a:pPr>
            <a:r>
              <a:rPr lang="en-US" sz="2000" b="1" dirty="0">
                <a:solidFill>
                  <a:srgbClr val="C00000"/>
                </a:solidFill>
              </a:rPr>
              <a:t>Software Requirements</a:t>
            </a:r>
          </a:p>
          <a:p>
            <a:pPr marL="285750" indent="-285750">
              <a:buFont typeface="Arial"/>
              <a:buChar char="•"/>
            </a:pPr>
            <a:r>
              <a:rPr lang="en-US" sz="1900" dirty="0"/>
              <a:t>Operating System: Windows / Linux / macOS</a:t>
            </a:r>
          </a:p>
          <a:p>
            <a:pPr marL="285750" indent="-285750">
              <a:buFont typeface="Arial"/>
              <a:buChar char="•"/>
            </a:pPr>
            <a:r>
              <a:rPr lang="en-US" sz="1900" dirty="0"/>
              <a:t>Programming Language: C++ / Java / Python</a:t>
            </a:r>
          </a:p>
          <a:p>
            <a:pPr marL="285750" indent="-285750">
              <a:buFont typeface="Arial"/>
              <a:buChar char="•"/>
            </a:pPr>
            <a:r>
              <a:rPr lang="en-US" sz="1900" dirty="0"/>
              <a:t>IDE / Code Editor: VS Code, Eclipse, or equivalent</a:t>
            </a:r>
          </a:p>
          <a:p>
            <a:pPr marL="285750" indent="-285750">
              <a:buFont typeface="Arial"/>
              <a:buChar char="•"/>
            </a:pPr>
            <a:r>
              <a:rPr lang="en-US" sz="1900" dirty="0"/>
              <a:t>Libraries: Standard Template Library (STL) / built-in Priority Queue and Graph data structures</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20" name="Body20"/>
          <p:cNvSpPr txBox="1"/>
          <p:nvPr/>
        </p:nvSpPr>
        <p:spPr>
          <a:xfrm>
            <a:off x="850000" y="2550000"/>
            <a:ext cx="10490000" cy="4000000"/>
          </a:xfrm>
          <a:prstGeom prst="rect">
            <a:avLst/>
          </a:prstGeom>
          <a:noFill/>
        </p:spPr>
        <p:txBody>
          <a:bodyPr wrap="square" anchor="t">
            <a:normAutofit/>
          </a:bodyPr>
          <a:lstStyle/>
          <a:p>
            <a:pPr marL="285750" indent="-285750">
              <a:buFont typeface="Arial"/>
              <a:buChar char="•"/>
            </a:pPr>
            <a:r>
              <a:rPr lang="en-US" sz="2000" dirty="0"/>
              <a:t>The Delivery Route Optimizer successfully demonstrates how graph theory and Dijkstra's Algorithm can be applied to solve real-world route optimization problems.</a:t>
            </a:r>
          </a:p>
          <a:p>
            <a:pPr marL="285750" indent="-285750">
              <a:buFont typeface="Arial"/>
              <a:buChar char="•"/>
            </a:pPr>
            <a:r>
              <a:rPr lang="en-US" sz="2000" dirty="0"/>
              <a:t>Using a Priority Queue (Min-Heap) makes the shortest-path computation efficient even as the road network grows in size.</a:t>
            </a:r>
          </a:p>
          <a:p>
            <a:pPr marL="285750" indent="-285750">
              <a:buFont typeface="Arial"/>
              <a:buChar char="•"/>
            </a:pPr>
            <a:r>
              <a:rPr lang="en-US" sz="2000" dirty="0"/>
              <a:t>The project shows how core data structures such as Adjacency Lists, Arrays, and Hash Maps work together to support fast, reliable route planning.</a:t>
            </a:r>
          </a:p>
          <a:p>
            <a:pPr marL="285750" indent="-285750">
              <a:buFont typeface="Arial"/>
              <a:buChar char="•"/>
            </a:pPr>
            <a:r>
              <a:rPr lang="en-US" sz="2000" dirty="0"/>
              <a:t>The resulting system reduces travel time and fuel consumption, reflecting the same principles used by real-world platforms like Google Maps, Swiggy, Zomato, and Blinkit.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0" name="Body20"/>
          <p:cNvSpPr txBox="1"/>
          <p:nvPr/>
        </p:nvSpPr>
        <p:spPr>
          <a:xfrm>
            <a:off x="850000" y="2550000"/>
            <a:ext cx="10490000" cy="4000000"/>
          </a:xfrm>
          <a:prstGeom prst="rect">
            <a:avLst/>
          </a:prstGeom>
          <a:noFill/>
        </p:spPr>
        <p:txBody>
          <a:bodyPr wrap="square" anchor="t">
            <a:normAutofit/>
          </a:bodyPr>
          <a:lstStyle/>
          <a:p>
            <a:pPr marL="285750" indent="-285750">
              <a:buFont typeface="Arial"/>
              <a:buChar char="•"/>
            </a:pPr>
            <a:r>
              <a:rPr lang="en-US" sz="2000" dirty="0"/>
              <a:t>Integrate real-time traffic data to dynamically update travel times and reroute deliveries.</a:t>
            </a:r>
          </a:p>
          <a:p>
            <a:pPr marL="285750" indent="-285750">
              <a:buFont typeface="Arial"/>
              <a:buChar char="•"/>
            </a:pPr>
            <a:r>
              <a:rPr lang="en-US" sz="2000" dirty="0"/>
              <a:t>Extend the system to handle multiple delivery agents and multiple destinations simultaneously (Vehicle Routing Problem).</a:t>
            </a:r>
          </a:p>
          <a:p>
            <a:pPr marL="285750" indent="-285750">
              <a:buFont typeface="Arial"/>
              <a:buChar char="•"/>
            </a:pPr>
            <a:r>
              <a:rPr lang="en-US" sz="2000" dirty="0"/>
              <a:t>Incorporate A* Search or bidirectional Dijkstra for faster performance on very large road networks.</a:t>
            </a:r>
          </a:p>
          <a:p>
            <a:pPr marL="285750" indent="-285750">
              <a:buFont typeface="Arial"/>
              <a:buChar char="•"/>
            </a:pPr>
            <a:r>
              <a:rPr lang="en-US" sz="2000" dirty="0"/>
              <a:t>Add a map-based graphical user interface for more intuitive route visualization.</a:t>
            </a:r>
          </a:p>
          <a:p>
            <a:pPr marL="285750" indent="-285750">
              <a:buFont typeface="Arial"/>
              <a:buChar char="•"/>
            </a:pPr>
            <a:r>
              <a:rPr lang="en-US" sz="2000" dirty="0"/>
              <a:t>Factor in additional constraints such as delivery time windows, vehicle capacity, and road conditions.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